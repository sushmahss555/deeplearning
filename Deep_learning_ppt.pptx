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</p:sldIdLst>
  <p:sldSz cx="3251200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32" d="100"/>
          <a:sy n="32" d="100"/>
        </p:scale>
        <p:origin x="13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512000" cy="1828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076521" y="7217186"/>
            <a:ext cx="28531185" cy="3740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6800" b="1" kern="0" spc="-7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Bridging</a:t>
            </a:r>
            <a:r>
              <a:rPr sz="16800" b="1" kern="0" spc="-35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800" b="1" kern="0" spc="-7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16800" b="1" kern="0" spc="-7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ommunication Gaps</a:t>
            </a:r>
            <a:endParaRPr lang="Arial" altLang="Arial" sz="168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200" dirty="0"/>
          </a:p>
          <a:p>
            <a:pPr algn="l" rtl="0" eaLnBrk="0">
              <a:lnSpc>
                <a:spcPct val="6931"/>
              </a:lnSpc>
              <a:tabLst/>
            </a:pPr>
            <a:endParaRPr lang="Arial" altLang="Arial" sz="100" dirty="0"/>
          </a:p>
          <a:p>
            <a:pPr marL="7651115" algn="l" rtl="0" eaLnBrk="0">
              <a:lnSpc>
                <a:spcPts val="6883"/>
              </a:lnSpc>
              <a:tabLst/>
            </a:pPr>
            <a:r>
              <a:rPr sz="5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</a:t>
            </a:r>
            <a:r>
              <a:rPr sz="50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Language</a:t>
            </a:r>
            <a:r>
              <a:rPr sz="50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Interpretation with</a:t>
            </a:r>
            <a:r>
              <a:rPr sz="50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</a:t>
            </a:r>
            <a:r>
              <a:rPr sz="50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</a:t>
            </a:r>
            <a:endParaRPr lang="Arial" altLang="Arial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1E2A43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1485798" y="7200900"/>
            <a:ext cx="14256385" cy="6344284"/>
          </a:xfrm>
          <a:prstGeom prst="rect">
            <a:avLst/>
          </a:prstGeom>
          <a:solidFill>
            <a:srgbClr val="32415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4000"/>
              </a:lnSpc>
              <a:tabLst/>
            </a:pPr>
            <a:endParaRPr lang="Arial" altLang="Arial" sz="1000" dirty="0"/>
          </a:p>
          <a:p>
            <a:pPr marL="104775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7300" b="1" kern="0" spc="-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Objective</a:t>
            </a:r>
            <a:endParaRPr lang="Arial" altLang="Arial" sz="7300" dirty="0"/>
          </a:p>
          <a:p>
            <a:pPr algn="l" rtl="0" eaLnBrk="0">
              <a:lnSpc>
                <a:spcPct val="117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7000"/>
              </a:lnSpc>
              <a:tabLst/>
            </a:pPr>
            <a:endParaRPr lang="Arial" altLang="Arial" sz="1000" dirty="0"/>
          </a:p>
          <a:p>
            <a:pPr marL="1047750" algn="l" rtl="0" eaLnBrk="0">
              <a:lnSpc>
                <a:spcPts val="4770"/>
              </a:lnSpc>
              <a:spcBef>
                <a:spcPts val="1060"/>
              </a:spcBef>
              <a:tabLst/>
            </a:pP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Build</a:t>
            </a:r>
            <a:r>
              <a:rPr sz="3500" kern="0" spc="6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500" kern="0" spc="7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Convolut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ional</a:t>
            </a:r>
            <a:r>
              <a:rPr sz="3500" kern="0" spc="8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</a:t>
            </a:r>
            <a:r>
              <a:rPr sz="3500" kern="0" spc="8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Network(CNN)</a:t>
            </a:r>
            <a:r>
              <a:rPr lang="en-US"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model to</a:t>
            </a:r>
            <a:endParaRPr lang="Arial" altLang="Arial" sz="3500" dirty="0"/>
          </a:p>
          <a:p>
            <a:pPr marL="1047750" algn="l" rtl="0" eaLnBrk="0">
              <a:lnSpc>
                <a:spcPct val="128000"/>
              </a:lnSpc>
              <a:spcBef>
                <a:spcPts val="49"/>
              </a:spcBef>
              <a:tabLst/>
            </a:pPr>
            <a:r>
              <a:rPr sz="35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classifying the hand signs of the American Sign</a:t>
            </a:r>
            <a:r>
              <a:rPr sz="35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Language                   </a:t>
            </a:r>
            <a:r>
              <a:rPr sz="3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ASL</a:t>
            </a:r>
            <a:r>
              <a:rPr sz="3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alphabet</a:t>
            </a:r>
            <a:r>
              <a:rPr sz="3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500" dirty="0"/>
          </a:p>
        </p:txBody>
      </p:sp>
      <p:sp>
        <p:nvSpPr>
          <p:cNvPr id="10" name="textbox 10"/>
          <p:cNvSpPr/>
          <p:nvPr/>
        </p:nvSpPr>
        <p:spPr>
          <a:xfrm>
            <a:off x="16802202" y="7213519"/>
            <a:ext cx="14224000" cy="6293484"/>
          </a:xfrm>
          <a:prstGeom prst="rect">
            <a:avLst/>
          </a:prstGeom>
          <a:solidFill>
            <a:srgbClr val="2E3D5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1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1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2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2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2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2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2000"/>
              </a:lnSpc>
              <a:tabLst/>
            </a:pPr>
            <a:endParaRPr lang="Arial" altLang="Arial" sz="1000" dirty="0"/>
          </a:p>
          <a:p>
            <a:pPr marL="1091564" algn="l" rtl="0" eaLnBrk="0">
              <a:lnSpc>
                <a:spcPct val="81000"/>
              </a:lnSpc>
              <a:spcBef>
                <a:spcPts val="4"/>
              </a:spcBef>
              <a:tabLst/>
            </a:pPr>
            <a:r>
              <a:rPr sz="7300" b="1" kern="0" spc="-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7300" b="1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300" b="1" kern="0" spc="-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</a:t>
            </a:r>
            <a:endParaRPr lang="Arial" altLang="Arial" sz="7300" dirty="0"/>
          </a:p>
          <a:p>
            <a:pPr algn="l" rtl="0" eaLnBrk="0">
              <a:lnSpc>
                <a:spcPct val="143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44000"/>
              </a:lnSpc>
              <a:tabLst/>
            </a:pPr>
            <a:endParaRPr lang="Arial" altLang="Arial" sz="1000" dirty="0"/>
          </a:p>
          <a:p>
            <a:pPr marL="1091564" algn="l" rtl="0" eaLnBrk="0">
              <a:lnSpc>
                <a:spcPct val="122000"/>
              </a:lnSpc>
              <a:spcBef>
                <a:spcPts val="1051"/>
              </a:spcBef>
              <a:tabLst/>
            </a:pP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 the trained</a:t>
            </a:r>
            <a:r>
              <a:rPr sz="35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 to accurate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ly predict a</a:t>
            </a:r>
            <a:r>
              <a:rPr sz="35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complete</a:t>
            </a:r>
            <a:r>
              <a:rPr sz="35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</a:t>
            </a:r>
            <a:r>
              <a:rPr sz="3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        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  <a:r>
              <a:rPr sz="3500" kern="0" spc="7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3500" kern="0" spc="9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ashort,synthesized</a:t>
            </a:r>
            <a:r>
              <a:rPr sz="3500" kern="0" spc="8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video  inpu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t,bridging</a:t>
            </a:r>
            <a:r>
              <a:rPr sz="3500" kern="0" spc="8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endParaRPr lang="Arial" altLang="Arial" sz="3500" dirty="0"/>
          </a:p>
          <a:p>
            <a:pPr marL="1091564" algn="l" rtl="0" eaLnBrk="0">
              <a:lnSpc>
                <a:spcPts val="4770"/>
              </a:lnSpc>
              <a:spcBef>
                <a:spcPts val="627"/>
              </a:spcBef>
              <a:tabLst/>
            </a:pP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staticimages</a:t>
            </a:r>
            <a:r>
              <a:rPr sz="35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35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sequential</a:t>
            </a:r>
            <a:r>
              <a:rPr sz="3500" kern="0" spc="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decoding.</a:t>
            </a:r>
            <a:endParaRPr lang="Arial" altLang="Arial" sz="3500" dirty="0"/>
          </a:p>
        </p:txBody>
      </p:sp>
      <p:sp>
        <p:nvSpPr>
          <p:cNvPr id="12" name="textbox 12"/>
          <p:cNvSpPr/>
          <p:nvPr/>
        </p:nvSpPr>
        <p:spPr>
          <a:xfrm>
            <a:off x="1536821" y="1814758"/>
            <a:ext cx="8794750" cy="11925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2000"/>
              </a:lnSpc>
              <a:spcBef>
                <a:spcPts val="1"/>
              </a:spcBef>
              <a:tabLst/>
            </a:pPr>
            <a:r>
              <a:rPr sz="9300" b="1" kern="0" spc="-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 Ov</a:t>
            </a:r>
            <a:r>
              <a:rPr sz="9300" b="1" kern="0" spc="-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</a:t>
            </a:r>
            <a:r>
              <a:rPr sz="93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lang="Arial" altLang="Arial" sz="9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1E2A43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652301" y="5327659"/>
            <a:ext cx="9232757" cy="1003938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1479621" y="5353080"/>
            <a:ext cx="9207399" cy="10013960"/>
            <a:chOff x="0" y="0"/>
            <a:chExt cx="9207399" cy="10013960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207399" cy="10013960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-12700" y="-12700"/>
              <a:ext cx="9232900" cy="1005395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8379"/>
                </a:lnSpc>
                <a:tabLst/>
              </a:pPr>
              <a:endParaRPr lang="Arial" altLang="Arial" sz="100" dirty="0"/>
            </a:p>
            <a:p>
              <a:pPr marL="2386964" algn="l" rtl="0" eaLnBrk="0">
                <a:lnSpc>
                  <a:spcPct val="82000"/>
                </a:lnSpc>
                <a:tabLst/>
              </a:pPr>
              <a:r>
                <a:rPr sz="7000" b="1" kern="0" spc="-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29 Classes</a:t>
              </a:r>
              <a:endParaRPr lang="Arial" altLang="Arial" sz="7000" dirty="0"/>
            </a:p>
            <a:p>
              <a:pPr algn="l" rtl="0" eaLnBrk="0">
                <a:lnSpc>
                  <a:spcPct val="106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6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9000"/>
                </a:lnSpc>
                <a:tabLst/>
              </a:pPr>
              <a:endParaRPr lang="Arial" altLang="Arial" sz="800" dirty="0"/>
            </a:p>
            <a:p>
              <a:pPr marL="1103630" indent="-107314" algn="l" rtl="0" eaLnBrk="0">
                <a:lnSpc>
                  <a:spcPct val="122000"/>
                </a:lnSpc>
                <a:spcBef>
                  <a:spcPts val="7"/>
                </a:spcBef>
                <a:tabLst/>
              </a:pPr>
              <a:r>
                <a:rPr sz="35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 datase</a:t>
              </a:r>
              <a:r>
                <a:rPr sz="3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3500" kern="0" spc="2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includes all</a:t>
              </a:r>
              <a:r>
                <a:rPr sz="3500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26</a:t>
              </a:r>
              <a:r>
                <a:rPr sz="3500" kern="0" spc="2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letters(A-         </a:t>
              </a:r>
              <a:r>
                <a:rPr sz="35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Z)plus three crucial clas</a:t>
              </a:r>
              <a:r>
                <a:rPr sz="3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ses for</a:t>
              </a:r>
              <a:r>
                <a:rPr sz="3500" kern="0" spc="1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real-          </a:t>
              </a:r>
              <a:r>
                <a:rPr sz="38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world use:'</a:t>
              </a:r>
              <a:r>
                <a:rPr sz="38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del,nothing,and'space!.</a:t>
              </a:r>
              <a:endParaRPr lang="Arial" altLang="Arial" sz="3800" dirty="0"/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21850339" y="5378501"/>
            <a:ext cx="9175863" cy="9988539"/>
            <a:chOff x="0" y="0"/>
            <a:chExt cx="9175863" cy="9988539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175863" cy="9988539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-12700" y="-12700"/>
              <a:ext cx="9201784" cy="1001395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4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8160"/>
                </a:lnSpc>
                <a:tabLst/>
              </a:pPr>
              <a:endParaRPr lang="Arial" altLang="Arial" sz="100" dirty="0"/>
            </a:p>
            <a:p>
              <a:pPr marL="2571114" algn="l" rtl="0" eaLnBrk="0">
                <a:lnSpc>
                  <a:spcPct val="82000"/>
                </a:lnSpc>
                <a:tabLst/>
              </a:pPr>
              <a:r>
                <a:rPr sz="7400" b="1" i="1" kern="0" spc="-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Data</a:t>
              </a:r>
              <a:r>
                <a:rPr sz="7400" b="1" i="1" kern="0" spc="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7400" b="1" i="1" kern="0" spc="-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Split</a:t>
              </a:r>
              <a:endParaRPr lang="Arial" altLang="Arial" sz="7400" dirty="0"/>
            </a:p>
            <a:p>
              <a:pPr algn="l" rtl="0" eaLnBrk="0">
                <a:lnSpc>
                  <a:spcPct val="11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1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16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16000"/>
                </a:lnSpc>
                <a:tabLst/>
              </a:pPr>
              <a:endParaRPr lang="Arial" altLang="Arial" sz="1000" dirty="0"/>
            </a:p>
            <a:p>
              <a:pPr marL="837564" algn="l" rtl="0" eaLnBrk="0">
                <a:lnSpc>
                  <a:spcPts val="5179"/>
                </a:lnSpc>
                <a:spcBef>
                  <a:spcPts val="1143"/>
                </a:spcBef>
                <a:tabLst/>
              </a:pPr>
              <a:r>
                <a:rPr sz="3800" kern="0" spc="-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 data was split in</a:t>
              </a:r>
              <a:r>
                <a:rPr sz="3800" kern="0" spc="-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</a:t>
              </a:r>
              <a:r>
                <a:rPr sz="3800" kern="0" spc="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800" kern="0" spc="-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69,600 files</a:t>
              </a: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800" kern="0" spc="-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endParaRPr lang="Arial" altLang="Arial" sz="3800" dirty="0"/>
            </a:p>
            <a:p>
              <a:pPr marL="1269364" algn="l" rtl="0" eaLnBrk="0">
                <a:lnSpc>
                  <a:spcPts val="5179"/>
                </a:lnSpc>
                <a:spcBef>
                  <a:spcPts val="379"/>
                </a:spcBef>
                <a:tabLst/>
              </a:pPr>
              <a:r>
                <a:rPr sz="3800" kern="0" spc="-1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training(80%)and</a:t>
              </a:r>
              <a:r>
                <a:rPr sz="38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800" kern="0" spc="-1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3800" kern="0" spc="-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7,400 files for</a:t>
              </a:r>
              <a:endParaRPr lang="Arial" altLang="Arial" sz="3800" dirty="0"/>
            </a:p>
            <a:p>
              <a:pPr marL="2285364" algn="l" rtl="0" eaLnBrk="0">
                <a:lnSpc>
                  <a:spcPct val="81000"/>
                </a:lnSpc>
                <a:spcBef>
                  <a:spcPts val="1032"/>
                </a:spcBef>
                <a:tabLst/>
              </a:pPr>
              <a:r>
                <a:rPr sz="38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validation(20%)to te</a:t>
              </a:r>
              <a:r>
                <a:rPr sz="38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</a:t>
              </a:r>
              <a:endParaRPr lang="Arial" altLang="Arial" sz="3800" dirty="0"/>
            </a:p>
            <a:p>
              <a:pPr marL="3054350" algn="l" rtl="0" eaLnBrk="0">
                <a:lnSpc>
                  <a:spcPts val="4974"/>
                </a:lnSpc>
                <a:spcBef>
                  <a:spcPts val="432"/>
                </a:spcBef>
                <a:tabLst/>
              </a:pPr>
              <a:r>
                <a:rPr sz="3600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generalization.</a:t>
              </a:r>
              <a:endParaRPr lang="Arial" altLang="Arial" sz="3600" dirty="0"/>
            </a:p>
          </p:txBody>
        </p:sp>
      </p:grpSp>
      <p:sp>
        <p:nvSpPr>
          <p:cNvPr id="26" name="textbox 26"/>
          <p:cNvSpPr/>
          <p:nvPr/>
        </p:nvSpPr>
        <p:spPr>
          <a:xfrm>
            <a:off x="12560339" y="11489659"/>
            <a:ext cx="7437119" cy="2606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386715" algn="l" rtl="0" eaLnBrk="0">
              <a:lnSpc>
                <a:spcPts val="4566"/>
              </a:lnSpc>
              <a:tabLst/>
            </a:pPr>
            <a:r>
              <a:rPr sz="3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r>
              <a:rPr sz="3300" kern="0" spc="5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3,000</a:t>
            </a:r>
            <a:r>
              <a:rPr sz="3300" kern="0" spc="6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images</a:t>
            </a:r>
            <a:r>
              <a:rPr sz="33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3300" kern="0" spc="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*every"</a:t>
            </a:r>
            <a:endParaRPr lang="Arial" altLang="Arial" sz="3300" dirty="0"/>
          </a:p>
          <a:p>
            <a:pPr algn="r" rtl="0" eaLnBrk="0">
              <a:lnSpc>
                <a:spcPts val="5179"/>
              </a:lnSpc>
              <a:spcBef>
                <a:spcPts val="222"/>
              </a:spcBef>
              <a:tabLst/>
            </a:pPr>
            <a:r>
              <a:rPr sz="3800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class,totaling 87,000 training i</a:t>
            </a:r>
            <a:r>
              <a:rPr sz="3800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mages.</a:t>
            </a:r>
            <a:endParaRPr lang="Arial" altLang="Arial" sz="3800" dirty="0"/>
          </a:p>
          <a:p>
            <a:pPr marL="386715" algn="l" rtl="0" eaLnBrk="0">
              <a:lnSpc>
                <a:spcPts val="4566"/>
              </a:lnSpc>
              <a:spcBef>
                <a:spcPts val="1132"/>
              </a:spcBef>
              <a:tabLst/>
            </a:pP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3300" kern="0" spc="5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balance</a:t>
            </a:r>
            <a:r>
              <a:rPr sz="33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33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33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33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3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model's</a:t>
            </a:r>
            <a:endParaRPr lang="Arial" altLang="Arial" sz="3300" dirty="0"/>
          </a:p>
          <a:p>
            <a:pPr marL="1708150" algn="l" rtl="0" eaLnBrk="0">
              <a:lnSpc>
                <a:spcPts val="4566"/>
              </a:lnSpc>
              <a:spcBef>
                <a:spcPts val="84"/>
              </a:spcBef>
              <a:tabLst/>
            </a:pPr>
            <a:r>
              <a:rPr sz="3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stable</a:t>
            </a:r>
            <a:r>
              <a:rPr sz="33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convergence.</a:t>
            </a:r>
            <a:endParaRPr lang="Arial" altLang="Arial" sz="3300" dirty="0"/>
          </a:p>
        </p:txBody>
      </p:sp>
      <p:sp>
        <p:nvSpPr>
          <p:cNvPr id="28" name="textbox 28"/>
          <p:cNvSpPr/>
          <p:nvPr/>
        </p:nvSpPr>
        <p:spPr>
          <a:xfrm>
            <a:off x="1517639" y="1760419"/>
            <a:ext cx="13309600" cy="11912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121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4000"/>
              </a:lnSpc>
              <a:tabLst/>
            </a:pPr>
            <a:r>
              <a:rPr sz="9100" b="1" kern="0" spc="-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ASL </a:t>
            </a:r>
            <a:r>
              <a:rPr sz="9100" b="1" kern="0" spc="-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Alphabet</a:t>
            </a:r>
            <a:r>
              <a:rPr sz="9100" b="1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100" b="1" kern="0" spc="-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</a:t>
            </a:r>
            <a:r>
              <a:rPr sz="9100" b="1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lang="Arial" altLang="Arial" sz="9100" dirty="0"/>
          </a:p>
        </p:txBody>
      </p:sp>
      <p:sp>
        <p:nvSpPr>
          <p:cNvPr id="30" name="textbox 30"/>
          <p:cNvSpPr/>
          <p:nvPr/>
        </p:nvSpPr>
        <p:spPr>
          <a:xfrm>
            <a:off x="14287377" y="8412109"/>
            <a:ext cx="3994784" cy="21532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49397"/>
              </a:lnSpc>
              <a:tabLst/>
            </a:pPr>
            <a:endParaRPr lang="Arial" altLang="Arial" sz="100" dirty="0"/>
          </a:p>
          <a:p>
            <a:pPr marL="120014" algn="l" rtl="0" eaLnBrk="0">
              <a:lnSpc>
                <a:spcPct val="80000"/>
              </a:lnSpc>
              <a:tabLst/>
            </a:pPr>
            <a:r>
              <a:rPr sz="7400" b="1" kern="0" spc="-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Perfectly</a:t>
            </a:r>
            <a:endParaRPr lang="Arial" altLang="Arial" sz="7400" dirty="0"/>
          </a:p>
          <a:p>
            <a:pPr algn="r" rtl="0" eaLnBrk="0">
              <a:lnSpc>
                <a:spcPts val="9689"/>
              </a:lnSpc>
              <a:tabLst/>
            </a:pPr>
            <a:r>
              <a:rPr sz="7400" b="1" kern="0" spc="-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Balanced</a:t>
            </a:r>
            <a:endParaRPr lang="Arial" altLang="Arial" sz="7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1E2A43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5698" y="5835701"/>
            <a:ext cx="14205143" cy="9029700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485777" y="6219623"/>
            <a:ext cx="14025880" cy="67722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589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81000"/>
              </a:lnSpc>
              <a:tabLst/>
            </a:pPr>
            <a:r>
              <a:rPr sz="7400" b="1" kern="0" spc="-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Inspection</a:t>
            </a:r>
            <a:endParaRPr lang="Arial" altLang="Arial" sz="7400" dirty="0"/>
          </a:p>
          <a:p>
            <a:pPr algn="l" rtl="0" eaLnBrk="0">
              <a:lnSpc>
                <a:spcPct val="137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37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ct val="116000"/>
              </a:lnSpc>
              <a:spcBef>
                <a:spcPts val="1059"/>
              </a:spcBef>
              <a:tabLst/>
            </a:pP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EDA</a:t>
            </a:r>
            <a:r>
              <a:rPr lang="en-US"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confirmed the dataset</a:t>
            </a:r>
            <a:r>
              <a:rPr lang="en-US"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’s</a:t>
            </a:r>
            <a:r>
              <a:rPr sz="35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qualit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 and</a:t>
            </a:r>
            <a:r>
              <a:rPr sz="35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perfect class</a:t>
            </a:r>
            <a:r>
              <a:rPr sz="35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balance.This</a:t>
            </a: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balance</a:t>
            </a:r>
            <a:r>
              <a:rPr sz="35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a keyfactor in the model's</a:t>
            </a:r>
            <a:r>
              <a:rPr sz="35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rapid</a:t>
            </a:r>
            <a:r>
              <a:rPr sz="3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3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stable</a:t>
            </a:r>
            <a:r>
              <a:rPr sz="3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convergence.</a:t>
            </a:r>
            <a:endParaRPr lang="Arial" altLang="Arial" sz="3500" dirty="0"/>
          </a:p>
          <a:p>
            <a:pPr algn="l" rtl="0" eaLnBrk="0">
              <a:lnSpc>
                <a:spcPct val="119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9000"/>
              </a:lnSpc>
              <a:tabLst/>
            </a:pPr>
            <a:endParaRPr lang="Arial" altLang="Arial" sz="1000" dirty="0"/>
          </a:p>
          <a:p>
            <a:pPr marL="132714" algn="l" rtl="0" eaLnBrk="0">
              <a:lnSpc>
                <a:spcPts val="4974"/>
              </a:lnSpc>
              <a:spcBef>
                <a:spcPts val="1083"/>
              </a:spcBef>
              <a:tabLst/>
            </a:pP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lang="en-US"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classes</a:t>
            </a: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exactly</a:t>
            </a:r>
            <a:r>
              <a:rPr sz="36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3,000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images</a:t>
            </a: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600" dirty="0"/>
          </a:p>
          <a:p>
            <a:pPr algn="l" rtl="0" eaLnBrk="0">
              <a:lnSpc>
                <a:spcPct val="101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2000"/>
              </a:lnSpc>
              <a:tabLst/>
            </a:pPr>
            <a:endParaRPr lang="Arial" altLang="Arial" sz="1000" dirty="0"/>
          </a:p>
          <a:p>
            <a:pPr marL="132714" algn="l" rtl="0" eaLnBrk="0">
              <a:lnSpc>
                <a:spcPts val="5179"/>
              </a:lnSpc>
              <a:spcBef>
                <a:spcPts val="1152"/>
              </a:spcBef>
              <a:tabLst/>
            </a:pPr>
            <a:r>
              <a:rPr sz="38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·lmages areclear,centered,and high-quality.</a:t>
            </a:r>
            <a:endParaRPr lang="Arial" altLang="Arial" sz="3800" dirty="0"/>
          </a:p>
          <a:p>
            <a:pPr algn="l" rtl="0" eaLnBrk="0">
              <a:lnSpc>
                <a:spcPct val="178000"/>
              </a:lnSpc>
              <a:tabLst/>
            </a:pPr>
            <a:endParaRPr lang="Arial" altLang="Arial" sz="1000" dirty="0"/>
          </a:p>
          <a:p>
            <a:pPr marL="132714" algn="l" rtl="0" eaLnBrk="0">
              <a:lnSpc>
                <a:spcPts val="4770"/>
              </a:lnSpc>
              <a:spcBef>
                <a:spcPts val="1060"/>
              </a:spcBef>
              <a:tabLst/>
            </a:pP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·The  clean</a:t>
            </a:r>
            <a:r>
              <a:rPr sz="3500" kern="0" spc="-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3500" kern="0" spc="4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allows</a:t>
            </a:r>
            <a:r>
              <a:rPr sz="3500" kern="0" spc="-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 model to focus on learning</a:t>
            </a:r>
            <a:r>
              <a:rPr sz="35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endParaRPr lang="Arial" altLang="Arial" sz="3500" dirty="0"/>
          </a:p>
          <a:p>
            <a:pPr marL="634365" algn="l" rtl="0" eaLnBrk="0">
              <a:lnSpc>
                <a:spcPts val="6192"/>
              </a:lnSpc>
              <a:tabLst/>
            </a:pP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35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noise</a:t>
            </a:r>
            <a:r>
              <a:rPr sz="3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500" dirty="0"/>
          </a:p>
        </p:txBody>
      </p:sp>
      <p:sp>
        <p:nvSpPr>
          <p:cNvPr id="38" name="textbox 38"/>
          <p:cNvSpPr/>
          <p:nvPr/>
        </p:nvSpPr>
        <p:spPr>
          <a:xfrm>
            <a:off x="1485777" y="1877821"/>
            <a:ext cx="13329919" cy="11474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964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1000"/>
              </a:lnSpc>
              <a:tabLst/>
            </a:pPr>
            <a:r>
              <a:rPr sz="9100" b="1" kern="0" spc="-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Exploratory</a:t>
            </a:r>
            <a:r>
              <a:rPr sz="9100" b="1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100" b="1" kern="0" spc="-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9100" b="1" kern="0" spc="-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ata Analysis</a:t>
            </a:r>
            <a:endParaRPr lang="Arial" altLang="Arial" sz="9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512000" cy="1828800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660900" y="9702800"/>
            <a:ext cx="19584669" cy="43484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lang="Arial" altLang="Arial" sz="400" dirty="0"/>
          </a:p>
          <a:p>
            <a:pPr marL="932814" algn="l" rtl="0" eaLnBrk="0">
              <a:lnSpc>
                <a:spcPts val="4974"/>
              </a:lnSpc>
              <a:spcBef>
                <a:spcPts val="5"/>
              </a:spcBef>
              <a:tabLst>
                <a:tab pos="1123950" algn="l"/>
              </a:tabLst>
            </a:pP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6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Architecture</a:t>
            </a:r>
            <a:r>
              <a:rPr sz="36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600" b="1" kern="0" spc="-5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Tuned the number of Convolutional blocks (from</a:t>
            </a:r>
            <a:r>
              <a:rPr sz="36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 to</a:t>
            </a:r>
            <a:r>
              <a:rPr sz="36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3).</a:t>
            </a:r>
            <a:endParaRPr lang="Arial" altLang="Arial" sz="36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1000" dirty="0"/>
          </a:p>
          <a:p>
            <a:pPr marL="1123950" algn="l" rtl="0" eaLnBrk="0">
              <a:lnSpc>
                <a:spcPts val="4770"/>
              </a:lnSpc>
              <a:spcBef>
                <a:spcPts val="1055"/>
              </a:spcBef>
              <a:tabLst/>
            </a:pPr>
            <a:r>
              <a:rPr sz="3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Layers:Tuned flter counts,k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ernel sizes</a:t>
            </a:r>
            <a:r>
              <a:rPr sz="35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(3x3 or 5x5),and</a:t>
            </a:r>
            <a:r>
              <a:rPr sz="3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5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number</a:t>
            </a:r>
            <a:r>
              <a:rPr sz="3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3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dense</a:t>
            </a:r>
            <a:r>
              <a:rPr sz="35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units.</a:t>
            </a:r>
            <a:endParaRPr lang="Arial" altLang="Arial" sz="3500" dirty="0"/>
          </a:p>
          <a:p>
            <a:pPr algn="l" rtl="0" eaLnBrk="0">
              <a:lnSpc>
                <a:spcPct val="140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40000"/>
              </a:lnSpc>
              <a:tabLst/>
            </a:pPr>
            <a:endParaRPr lang="Arial" altLang="Arial" sz="1000" dirty="0"/>
          </a:p>
          <a:p>
            <a:pPr marL="1123950" algn="l" rtl="0" eaLnBrk="0">
              <a:lnSpc>
                <a:spcPts val="4974"/>
              </a:lnSpc>
              <a:spcBef>
                <a:spcPts val="1083"/>
              </a:spcBef>
              <a:tabLst/>
            </a:pP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</a:t>
            </a:r>
            <a:r>
              <a:rPr sz="3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Rate:Searched from</a:t>
            </a:r>
            <a:r>
              <a:rPr sz="36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1e-4to</a:t>
            </a:r>
            <a:r>
              <a:rPr sz="36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1e-2 to find the most efficient training </a:t>
            </a:r>
            <a:r>
              <a:rPr sz="3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rate.</a:t>
            </a:r>
            <a:endParaRPr lang="Arial" altLang="Arial" sz="3600" dirty="0"/>
          </a:p>
          <a:p>
            <a:pPr algn="l" rtl="0" eaLnBrk="0">
              <a:lnSpc>
                <a:spcPct val="137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37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6000"/>
              </a:lnSpc>
              <a:tabLst/>
            </a:pPr>
            <a:endParaRPr lang="Arial" altLang="Arial" sz="900" dirty="0"/>
          </a:p>
          <a:p>
            <a:pPr algn="r" rtl="0" eaLnBrk="0">
              <a:lnSpc>
                <a:spcPts val="5179"/>
              </a:lnSpc>
              <a:spcBef>
                <a:spcPts val="5"/>
              </a:spcBef>
              <a:tabLst/>
            </a:pPr>
            <a:r>
              <a:rPr sz="38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Objective:The tuner wa</a:t>
            </a:r>
            <a:r>
              <a:rPr sz="3800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 optimized to find the model with the maximum</a:t>
            </a:r>
            <a:r>
              <a:rPr sz="3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r>
              <a:rPr sz="38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accuracy.</a:t>
            </a:r>
            <a:endParaRPr lang="Arial" altLang="Arial" sz="3800" dirty="0"/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73600" y="9715500"/>
            <a:ext cx="920739" cy="882578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4806878" y="6498910"/>
            <a:ext cx="22065614" cy="28136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100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82000"/>
              </a:lnSpc>
              <a:tabLst/>
            </a:pPr>
            <a:r>
              <a:rPr sz="7100" b="1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Finding the Opti</a:t>
            </a:r>
            <a:r>
              <a:rPr sz="7100" b="1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mal</a:t>
            </a:r>
            <a:r>
              <a:rPr sz="7100" b="1" kern="0" spc="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100" b="1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endParaRPr lang="Arial" altLang="Arial" sz="7100" dirty="0"/>
          </a:p>
          <a:p>
            <a:pPr algn="l" rtl="0" eaLnBrk="0">
              <a:lnSpc>
                <a:spcPct val="143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43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0000"/>
              </a:lnSpc>
              <a:tabLst/>
            </a:pPr>
            <a:endParaRPr lang="Arial" altLang="Arial" sz="900" dirty="0"/>
          </a:p>
          <a:p>
            <a:pPr marL="12700" algn="l" rtl="0" eaLnBrk="0">
              <a:lnSpc>
                <a:spcPct val="121000"/>
              </a:lnSpc>
              <a:spcBef>
                <a:spcPts val="1"/>
              </a:spcBef>
              <a:tabLst/>
            </a:pP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Weused the</a:t>
            </a:r>
            <a:r>
              <a:rPr sz="3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Keras Tuner library with the</a:t>
            </a:r>
            <a:r>
              <a:rPr sz="36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Hyperband algorithm to automatically test th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ousands</a:t>
            </a:r>
            <a:r>
              <a:rPr sz="36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combinations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find the </a:t>
            </a:r>
            <a:r>
              <a:rPr sz="3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</a:t>
            </a:r>
            <a:r>
              <a:rPr sz="36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hyperparameters.</a:t>
            </a:r>
            <a:endParaRPr lang="Arial" altLang="Arial" sz="3600" dirty="0"/>
          </a:p>
        </p:txBody>
      </p:sp>
      <p:sp>
        <p:nvSpPr>
          <p:cNvPr id="98" name="textbox 98"/>
          <p:cNvSpPr/>
          <p:nvPr/>
        </p:nvSpPr>
        <p:spPr>
          <a:xfrm>
            <a:off x="1504960" y="1901580"/>
            <a:ext cx="17056735" cy="11817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56863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1000"/>
              </a:lnSpc>
              <a:tabLst/>
            </a:pPr>
            <a:r>
              <a:rPr sz="9400" b="1" kern="0" spc="-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 :Hyperparameter Tuning</a:t>
            </a:r>
            <a:endParaRPr lang="Arial" altLang="Arial" sz="9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1E2A43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485798" y="5962618"/>
            <a:ext cx="9220403" cy="8820120"/>
            <a:chOff x="0" y="0"/>
            <a:chExt cx="9220403" cy="8820120"/>
          </a:xfrm>
        </p:grpSpPr>
        <p:pic>
          <p:nvPicPr>
            <p:cNvPr id="102" name="picture 10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220403" cy="8820120"/>
            </a:xfrm>
            <a:prstGeom prst="rect">
              <a:avLst/>
            </a:prstGeom>
          </p:spPr>
        </p:pic>
        <p:sp>
          <p:nvSpPr>
            <p:cNvPr id="104" name="textbox 104"/>
            <p:cNvSpPr/>
            <p:nvPr/>
          </p:nvSpPr>
          <p:spPr>
            <a:xfrm>
              <a:off x="-12700" y="-12700"/>
              <a:ext cx="9246234" cy="884555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marL="1739900" algn="l" rtl="0" eaLnBrk="0">
                <a:lnSpc>
                  <a:spcPct val="82000"/>
                </a:lnSpc>
                <a:spcBef>
                  <a:spcPts val="2"/>
                </a:spcBef>
                <a:tabLst/>
              </a:pPr>
              <a:r>
                <a:rPr sz="7100" b="1" kern="0" spc="-2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 Conv</a:t>
              </a:r>
              <a:r>
                <a:rPr sz="7100" b="1" kern="0" spc="3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7100" b="1" kern="0" spc="-2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Blo</a:t>
              </a:r>
              <a:r>
                <a:rPr sz="7100" b="1" kern="0" spc="-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cks</a:t>
              </a:r>
              <a:endParaRPr lang="Arial" altLang="Arial" sz="7100" dirty="0"/>
            </a:p>
            <a:p>
              <a:pPr algn="l" rtl="0" eaLnBrk="0">
                <a:lnSpc>
                  <a:spcPct val="12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2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22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22000"/>
                </a:lnSpc>
                <a:tabLst/>
              </a:pPr>
              <a:endParaRPr lang="Arial" altLang="Arial" sz="1000" dirty="0"/>
            </a:p>
            <a:p>
              <a:pPr marL="1098550" algn="l" rtl="0" eaLnBrk="0">
                <a:lnSpc>
                  <a:spcPts val="4974"/>
                </a:lnSpc>
                <a:spcBef>
                  <a:spcPts val="1086"/>
                </a:spcBef>
                <a:tabLst/>
              </a:pPr>
              <a:r>
                <a:rPr sz="3600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 tuner selected a deeper 3-block</a:t>
              </a:r>
              <a:endParaRPr lang="Arial" altLang="Arial" sz="3600" dirty="0"/>
            </a:p>
            <a:p>
              <a:pPr marL="952500" algn="l" rtl="0" eaLnBrk="0">
                <a:lnSpc>
                  <a:spcPts val="4974"/>
                </a:lnSpc>
                <a:spcBef>
                  <a:spcPts val="584"/>
                </a:spcBef>
                <a:tabLst/>
              </a:pP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architecture</a:t>
              </a:r>
              <a:r>
                <a:rPr sz="36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with</a:t>
              </a:r>
              <a:r>
                <a:rPr sz="36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hlter</a:t>
              </a:r>
              <a:r>
                <a:rPr sz="36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sizes</a:t>
              </a:r>
              <a:r>
                <a:rPr sz="36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of</a:t>
              </a:r>
              <a:r>
                <a:rPr sz="36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32,32</a:t>
              </a:r>
              <a:endParaRPr lang="Arial" altLang="Arial" sz="3600" dirty="0"/>
            </a:p>
            <a:p>
              <a:pPr marL="844550" algn="l" rtl="0" eaLnBrk="0">
                <a:lnSpc>
                  <a:spcPts val="4566"/>
                </a:lnSpc>
                <a:spcBef>
                  <a:spcPts val="800"/>
                </a:spcBef>
                <a:tabLst/>
              </a:pP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r>
                <a:rPr sz="3300" kern="0" spc="5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64,using</a:t>
              </a:r>
              <a:r>
                <a:rPr sz="3300" kern="0" spc="6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larger</a:t>
              </a:r>
              <a:r>
                <a:rPr sz="3300" kern="0" spc="4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5x</a:t>
              </a:r>
              <a:r>
                <a:rPr sz="3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3300" kern="0" spc="6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kernels</a:t>
              </a:r>
              <a:r>
                <a:rPr sz="3300" kern="0" spc="4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r>
                <a:rPr sz="3300" kern="0" spc="4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</a:t>
              </a:r>
              <a:endParaRPr lang="Arial" altLang="Arial" sz="3300" dirty="0"/>
            </a:p>
            <a:p>
              <a:pPr marL="3670300" algn="l" rtl="0" eaLnBrk="0">
                <a:lnSpc>
                  <a:spcPts val="5383"/>
                </a:lnSpc>
                <a:spcBef>
                  <a:spcPts val="218"/>
                </a:spcBef>
                <a:tabLst/>
              </a:pPr>
              <a:r>
                <a:rPr sz="39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first</a:t>
              </a:r>
              <a:r>
                <a:rPr sz="39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9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two</a:t>
              </a:r>
              <a:r>
                <a:rPr sz="39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</a:t>
              </a:r>
              <a:endParaRPr lang="Arial" altLang="Arial" sz="3900" dirty="0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11658479" y="5988039"/>
            <a:ext cx="9207723" cy="8769279"/>
            <a:chOff x="0" y="0"/>
            <a:chExt cx="9207723" cy="8769279"/>
          </a:xfrm>
        </p:grpSpPr>
        <p:pic>
          <p:nvPicPr>
            <p:cNvPr id="106" name="picture 1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9207723" cy="8769279"/>
            </a:xfrm>
            <a:prstGeom prst="rect">
              <a:avLst/>
            </a:prstGeom>
          </p:spPr>
        </p:pic>
        <p:sp>
          <p:nvSpPr>
            <p:cNvPr id="108" name="textbox 108"/>
            <p:cNvSpPr/>
            <p:nvPr/>
          </p:nvSpPr>
          <p:spPr>
            <a:xfrm>
              <a:off x="-12700" y="-12700"/>
              <a:ext cx="9233534" cy="879475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3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7726"/>
                </a:lnSpc>
                <a:tabLst/>
              </a:pPr>
              <a:endParaRPr lang="Arial" altLang="Arial" sz="100" dirty="0"/>
            </a:p>
            <a:p>
              <a:pPr marL="1282700" algn="l" rtl="0" eaLnBrk="0">
                <a:lnSpc>
                  <a:spcPct val="81000"/>
                </a:lnSpc>
                <a:tabLst/>
              </a:pPr>
              <a:r>
                <a:rPr sz="67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256</a:t>
              </a:r>
              <a:r>
                <a:rPr sz="6700" b="1" kern="0" spc="5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67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Dense</a:t>
              </a:r>
              <a:r>
                <a:rPr sz="6700" b="1" kern="0" spc="5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67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Units</a:t>
              </a:r>
              <a:endParaRPr lang="Arial" altLang="Arial" sz="6700" dirty="0"/>
            </a:p>
            <a:p>
              <a:pPr algn="l" rtl="0" eaLnBrk="0">
                <a:lnSpc>
                  <a:spcPct val="11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1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15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16000"/>
                </a:lnSpc>
                <a:tabLst/>
              </a:pPr>
              <a:endParaRPr lang="Arial" altLang="Arial" sz="1000" dirty="0"/>
            </a:p>
            <a:p>
              <a:pPr marL="1212850" algn="l" rtl="0" eaLnBrk="0">
                <a:lnSpc>
                  <a:spcPts val="5179"/>
                </a:lnSpc>
                <a:spcBef>
                  <a:spcPts val="1150"/>
                </a:spcBef>
                <a:tabLst/>
              </a:pPr>
              <a:r>
                <a:rPr sz="3800" kern="0" spc="-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Alarger dense layer with 256</a:t>
              </a:r>
              <a:r>
                <a:rPr sz="3800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800" kern="0" spc="-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units</a:t>
              </a:r>
              <a:endParaRPr lang="Arial" altLang="Arial" sz="3800" dirty="0"/>
            </a:p>
            <a:p>
              <a:pPr marL="1047750" algn="l" rtl="0" eaLnBrk="0">
                <a:lnSpc>
                  <a:spcPts val="4566"/>
                </a:lnSpc>
                <a:spcBef>
                  <a:spcPts val="582"/>
                </a:spcBef>
                <a:tabLst/>
              </a:pPr>
              <a:r>
                <a:rPr sz="3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was</a:t>
              </a:r>
              <a:r>
                <a:rPr sz="3300" kern="0" spc="3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chosen</a:t>
              </a:r>
              <a:r>
                <a:rPr sz="3300" kern="0" spc="4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by</a:t>
              </a:r>
              <a:r>
                <a:rPr sz="3300" kern="0" spc="3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</a:t>
              </a:r>
              <a:r>
                <a:rPr sz="33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tuner</a:t>
              </a:r>
              <a:r>
                <a:rPr sz="3300" kern="0" spc="2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r>
                <a:rPr sz="3300" kern="0" spc="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</a:t>
              </a:r>
              <a:r>
                <a:rPr sz="3300" kern="0" spc="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final</a:t>
              </a:r>
              <a:endParaRPr lang="Arial" altLang="Arial" sz="3300" dirty="0"/>
            </a:p>
            <a:p>
              <a:pPr marL="1174750" algn="l" rtl="0" eaLnBrk="0">
                <a:lnSpc>
                  <a:spcPts val="4770"/>
                </a:lnSpc>
                <a:spcBef>
                  <a:spcPts val="1296"/>
                </a:spcBef>
                <a:tabLst/>
              </a:pPr>
              <a:r>
                <a:rPr sz="35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classifica</a:t>
              </a:r>
              <a:r>
                <a:rPr sz="35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tion  head,providing  more</a:t>
              </a:r>
              <a:endParaRPr lang="Arial" altLang="Arial" sz="3500" dirty="0"/>
            </a:p>
            <a:p>
              <a:pPr marL="2851150" algn="l" rtl="0" eaLnBrk="0">
                <a:lnSpc>
                  <a:spcPts val="4974"/>
                </a:lnSpc>
                <a:spcBef>
                  <a:spcPts val="543"/>
                </a:spcBef>
                <a:tabLst/>
              </a:pPr>
              <a:r>
                <a:rPr sz="36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learning capac</a:t>
              </a:r>
              <a:r>
                <a:rPr sz="36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ity.</a:t>
              </a:r>
              <a:endParaRPr lang="Arial" altLang="Arial" sz="3600" dirty="0"/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21850339" y="5981639"/>
            <a:ext cx="9175863" cy="8769461"/>
            <a:chOff x="0" y="0"/>
            <a:chExt cx="9175863" cy="8769461"/>
          </a:xfrm>
        </p:grpSpPr>
        <p:pic>
          <p:nvPicPr>
            <p:cNvPr id="110" name="picture 1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175863" cy="8769461"/>
            </a:xfrm>
            <a:prstGeom prst="rect">
              <a:avLst/>
            </a:prstGeom>
          </p:spPr>
        </p:pic>
        <p:sp>
          <p:nvSpPr>
            <p:cNvPr id="112" name="textbox 112"/>
            <p:cNvSpPr/>
            <p:nvPr/>
          </p:nvSpPr>
          <p:spPr>
            <a:xfrm>
              <a:off x="-12700" y="-12700"/>
              <a:ext cx="9201784" cy="879538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0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1000"/>
                </a:lnSpc>
                <a:tabLst/>
              </a:pPr>
              <a:endParaRPr lang="Arial" altLang="Arial" sz="1000" dirty="0"/>
            </a:p>
            <a:p>
              <a:pPr marL="2640964" algn="l" rtl="0" eaLnBrk="0">
                <a:lnSpc>
                  <a:spcPct val="79000"/>
                </a:lnSpc>
                <a:spcBef>
                  <a:spcPts val="2"/>
                </a:spcBef>
                <a:tabLst/>
              </a:pPr>
              <a:r>
                <a:rPr sz="7100" b="1" kern="0" spc="-16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0.0048</a:t>
              </a:r>
              <a:r>
                <a:rPr sz="7100" kern="0" spc="-16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7100" b="1" kern="0" spc="-16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LR</a:t>
              </a:r>
              <a:endParaRPr lang="SimSun" altLang="SimSun" sz="7100" dirty="0"/>
            </a:p>
            <a:p>
              <a:pPr algn="l" rtl="0" eaLnBrk="0">
                <a:lnSpc>
                  <a:spcPct val="106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algn="l" rtl="0" eaLnBrk="0">
                <a:lnSpc>
                  <a:spcPct val="107000"/>
                </a:lnSpc>
                <a:tabLst/>
              </a:pPr>
              <a:endParaRPr lang="Arial" altLang="Arial" sz="1000" dirty="0"/>
            </a:p>
            <a:p>
              <a:pPr marL="945514" algn="l" rtl="0" eaLnBrk="0">
                <a:lnSpc>
                  <a:spcPts val="4974"/>
                </a:lnSpc>
                <a:spcBef>
                  <a:spcPts val="1086"/>
                </a:spcBef>
                <a:tabLst/>
              </a:pPr>
              <a:r>
                <a:rPr sz="36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Aprecise and rel</a:t>
              </a:r>
              <a:r>
                <a:rPr sz="36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atively</a:t>
              </a:r>
              <a:r>
                <a:rPr sz="3600" kern="0" spc="2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high</a:t>
              </a:r>
              <a:r>
                <a:rPr sz="36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learning</a:t>
              </a:r>
              <a:endParaRPr lang="Arial" altLang="Arial" sz="3600" dirty="0"/>
            </a:p>
            <a:p>
              <a:pPr marL="1035050" algn="l" rtl="0" eaLnBrk="0">
                <a:lnSpc>
                  <a:spcPts val="4974"/>
                </a:lnSpc>
                <a:spcBef>
                  <a:spcPts val="244"/>
                </a:spcBef>
                <a:tabLst/>
              </a:pP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rateof</a:t>
              </a:r>
              <a:r>
                <a:rPr sz="3600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~0.0048</a:t>
              </a:r>
              <a:r>
                <a:rPr sz="3600" kern="0" spc="9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combined</a:t>
              </a:r>
              <a:r>
                <a:rPr sz="3600" kern="0" spc="7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witha</a:t>
              </a:r>
              <a:r>
                <a:rPr sz="3600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endParaRPr lang="Arial" altLang="Arial" sz="3600" dirty="0"/>
            </a:p>
            <a:p>
              <a:pPr marL="1358900" algn="l" rtl="0" eaLnBrk="0">
                <a:lnSpc>
                  <a:spcPts val="4974"/>
                </a:lnSpc>
                <a:spcBef>
                  <a:spcPts val="246"/>
                </a:spcBef>
                <a:tabLst/>
              </a:pPr>
              <a:r>
                <a:rPr sz="36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dropout rate was found t</a:t>
              </a:r>
              <a:r>
                <a:rPr sz="3600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r>
                <a:rPr sz="36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be</a:t>
              </a:r>
              <a:r>
                <a:rPr sz="3600" kern="0" spc="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</a:t>
              </a:r>
              <a:endParaRPr lang="Arial" altLang="Arial" sz="3600" dirty="0"/>
            </a:p>
            <a:p>
              <a:pPr marL="3002914" algn="l" rtl="0" eaLnBrk="0">
                <a:lnSpc>
                  <a:spcPts val="4974"/>
                </a:lnSpc>
                <a:spcBef>
                  <a:spcPts val="585"/>
                </a:spcBef>
                <a:tabLst/>
              </a:pPr>
              <a:r>
                <a:rPr sz="3600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optimal</a:t>
              </a:r>
              <a:r>
                <a:rPr sz="3600" kern="0" spc="6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3600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</a:t>
              </a:r>
              <a:r>
                <a:rPr sz="36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tting.</a:t>
              </a:r>
              <a:endParaRPr lang="Arial" altLang="Arial" sz="3600" dirty="0"/>
            </a:p>
          </p:txBody>
        </p:sp>
      </p:grpSp>
      <p:sp>
        <p:nvSpPr>
          <p:cNvPr id="114" name="textbox 114"/>
          <p:cNvSpPr/>
          <p:nvPr/>
        </p:nvSpPr>
        <p:spPr>
          <a:xfrm>
            <a:off x="1485777" y="1799665"/>
            <a:ext cx="21370925" cy="12103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44134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4000"/>
              </a:lnSpc>
              <a:tabLst/>
            </a:pPr>
            <a:r>
              <a:rPr sz="9300" b="1" kern="0" spc="-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</a:t>
            </a:r>
            <a:r>
              <a:rPr sz="9300" b="1" kern="0" spc="-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9300" b="1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300" b="1" kern="0" spc="-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Model:Tuner's Optimal Archit</a:t>
            </a:r>
            <a:r>
              <a:rPr sz="9300" b="1" kern="0" spc="-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ectur</a:t>
            </a:r>
            <a:r>
              <a:rPr sz="9300" b="1" kern="0" spc="-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lang="Arial" altLang="Arial" sz="9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512000" cy="18288000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6821036" y="7681793"/>
            <a:ext cx="14098269" cy="53320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7600" b="1" kern="0" spc="-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 with</a:t>
            </a:r>
            <a:r>
              <a:rPr sz="7600" b="1" kern="0" spc="4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600" b="1" kern="0" spc="-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Early stopping</a:t>
            </a:r>
            <a:endParaRPr lang="Arial" altLang="Arial" sz="7600" dirty="0"/>
          </a:p>
          <a:p>
            <a:pPr algn="l" rtl="0" eaLnBrk="0">
              <a:lnSpc>
                <a:spcPct val="108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8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ts val="4906"/>
              </a:lnSpc>
              <a:spcBef>
                <a:spcPts val="1091"/>
              </a:spcBef>
              <a:tabLst/>
            </a:pP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final model was trai</a:t>
            </a:r>
            <a:r>
              <a:rPr sz="36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ned for 50 epochs</a:t>
            </a:r>
            <a:r>
              <a:rPr sz="36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</a:t>
            </a:r>
            <a:r>
              <a:rPr sz="3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Early Stopping</a:t>
            </a:r>
            <a:endParaRPr lang="Arial" altLang="Arial" sz="3600" dirty="0"/>
          </a:p>
          <a:p>
            <a:pPr marL="12700" algn="l" rtl="0" eaLnBrk="0">
              <a:lnSpc>
                <a:spcPts val="5899"/>
              </a:lnSpc>
              <a:tabLst/>
            </a:pP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(patience=4)to   monitor</a:t>
            </a:r>
            <a:r>
              <a:rPr sz="3600" kern="0" spc="4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3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alloss'.</a:t>
            </a:r>
            <a:endParaRPr lang="Arial" altLang="Arial" sz="3600" dirty="0"/>
          </a:p>
          <a:p>
            <a:pPr algn="l" rtl="0" eaLnBrk="0">
              <a:lnSpc>
                <a:spcPct val="117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7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0000"/>
              </a:lnSpc>
              <a:tabLst/>
            </a:pPr>
            <a:endParaRPr lang="Arial" altLang="Arial" sz="900" dirty="0"/>
          </a:p>
          <a:p>
            <a:pPr marL="12700" algn="l" rtl="0" eaLnBrk="0">
              <a:lnSpc>
                <a:spcPct val="124000"/>
              </a:lnSpc>
              <a:tabLst/>
            </a:pPr>
            <a:r>
              <a:rPr sz="3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 technique automatically stopped training at epoch</a:t>
            </a:r>
            <a:r>
              <a:rPr sz="36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12 and</a:t>
            </a:r>
            <a:r>
              <a:rPr sz="36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r>
              <a:rPr sz="3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stored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best weights from</a:t>
            </a:r>
            <a:r>
              <a:rPr sz="3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poch 8,preventing overfitting and ensuring the  best possible generalization for the video ta</a:t>
            </a:r>
            <a:r>
              <a:rPr sz="3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sk.</a:t>
            </a:r>
            <a:endParaRPr lang="Arial" altLang="Arial" sz="3600" dirty="0"/>
          </a:p>
        </p:txBody>
      </p:sp>
      <p:sp>
        <p:nvSpPr>
          <p:cNvPr id="120" name="textbox 120"/>
          <p:cNvSpPr/>
          <p:nvPr/>
        </p:nvSpPr>
        <p:spPr>
          <a:xfrm>
            <a:off x="1498457" y="1832436"/>
            <a:ext cx="15763239" cy="11677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9200" b="1" kern="0" spc="-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9200" b="1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200" b="1" kern="0" spc="-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Model:Training &amp;Resu</a:t>
            </a:r>
            <a:r>
              <a:rPr sz="9200" b="1" kern="0" spc="-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lts</a:t>
            </a:r>
            <a:endParaRPr lang="Arial" altLang="Arial" sz="9200" dirty="0"/>
          </a:p>
        </p:txBody>
      </p:sp>
      <p:sp>
        <p:nvSpPr>
          <p:cNvPr id="122" name="textbox 122"/>
          <p:cNvSpPr/>
          <p:nvPr/>
        </p:nvSpPr>
        <p:spPr>
          <a:xfrm>
            <a:off x="5054620" y="12011294"/>
            <a:ext cx="7051675" cy="6502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6302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4000"/>
              </a:lnSpc>
              <a:tabLst/>
            </a:pPr>
            <a:r>
              <a:rPr sz="4900" b="1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 Vali</a:t>
            </a:r>
            <a:r>
              <a:rPr sz="4900" b="1" kern="0" spc="-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dati</a:t>
            </a:r>
            <a:r>
              <a:rPr sz="4900" b="1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Accurac</a:t>
            </a:r>
            <a:r>
              <a:rPr sz="49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lang="Arial" altLang="Arial" sz="4900" dirty="0"/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3182" y="9524938"/>
            <a:ext cx="1187337" cy="685800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42320" y="8959839"/>
            <a:ext cx="349179" cy="311078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50260" y="10382280"/>
            <a:ext cx="399899" cy="120701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05858" y="9207459"/>
            <a:ext cx="120619" cy="634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512000" cy="18288000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4749657" y="6213068"/>
            <a:ext cx="21729064" cy="8172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100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82000"/>
              </a:lnSpc>
              <a:tabLst/>
            </a:pPr>
            <a:r>
              <a:rPr sz="7100" b="1" kern="0" spc="-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Smart</a:t>
            </a:r>
            <a:r>
              <a:rPr sz="7100" b="1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100" b="1" kern="0" spc="-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Decoding</a:t>
            </a:r>
            <a:r>
              <a:rPr sz="7100" b="1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100" b="1" kern="0" spc="-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</a:t>
            </a:r>
            <a:r>
              <a:rPr sz="7100" b="1" kern="0" spc="-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endParaRPr lang="Arial" altLang="Arial" sz="7100" dirty="0"/>
          </a:p>
          <a:p>
            <a:pPr algn="l" rtl="0" eaLnBrk="0">
              <a:lnSpc>
                <a:spcPct val="13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34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ts val="4770"/>
              </a:lnSpc>
              <a:spcBef>
                <a:spcPts val="1057"/>
              </a:spcBef>
              <a:tabLst/>
            </a:pP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predict a full sentence,the model doesn'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 just guess</a:t>
            </a:r>
            <a:r>
              <a:rPr sz="3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 frame.It</a:t>
            </a:r>
            <a:r>
              <a:rPr sz="35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uses</a:t>
            </a:r>
            <a:r>
              <a:rPr sz="3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arobust</a:t>
            </a:r>
            <a:r>
              <a:rPr sz="35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pipeline to</a:t>
            </a:r>
            <a:r>
              <a:rPr sz="3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ensure</a:t>
            </a:r>
            <a:r>
              <a:rPr sz="3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accuracy.</a:t>
            </a:r>
            <a:endParaRPr lang="Arial" altLang="Arial" sz="3500" dirty="0"/>
          </a:p>
          <a:p>
            <a:pPr marL="1054100" algn="l" rtl="0" eaLnBrk="0">
              <a:lnSpc>
                <a:spcPts val="9149"/>
              </a:lnSpc>
              <a:tabLst/>
            </a:pP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Predict:The stable C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NN model classifhes every single frame</a:t>
            </a:r>
            <a:r>
              <a:rPr sz="3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 video.</a:t>
            </a:r>
            <a:endParaRPr lang="Arial" altLang="Arial" sz="3500" dirty="0"/>
          </a:p>
          <a:p>
            <a:pPr algn="l" rtl="0" eaLnBrk="0">
              <a:lnSpc>
                <a:spcPct val="135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36000"/>
              </a:lnSpc>
              <a:tabLst/>
            </a:pPr>
            <a:endParaRPr lang="Arial" altLang="Arial" sz="1000" dirty="0"/>
          </a:p>
          <a:p>
            <a:pPr marL="1054100" algn="l" rtl="0" eaLnBrk="0">
              <a:lnSpc>
                <a:spcPct val="134000"/>
              </a:lnSpc>
              <a:spcBef>
                <a:spcPts val="1083"/>
              </a:spcBef>
              <a:tabLst/>
            </a:pP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Majority Vote:Frames are grouped by sign (1</a:t>
            </a:r>
            <a:r>
              <a:rPr sz="36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</a:t>
            </a:r>
            <a:r>
              <a:rPr sz="36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 second).The</a:t>
            </a:r>
            <a:r>
              <a:rPr sz="36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most</a:t>
            </a:r>
            <a:r>
              <a:rPr sz="36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common</a:t>
            </a:r>
            <a:r>
              <a:rPr sz="36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</a:t>
            </a:r>
            <a:r>
              <a:rPr sz="36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3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</a:t>
            </a:r>
            <a:r>
              <a:rPr sz="36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36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becomes the cho</a:t>
            </a:r>
            <a:r>
              <a:rPr sz="36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</a:t>
            </a:r>
            <a:r>
              <a:rPr sz="36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letter.</a:t>
            </a:r>
            <a:endParaRPr lang="Arial" altLang="Arial" sz="3600" dirty="0"/>
          </a:p>
          <a:p>
            <a:pPr algn="l" rtl="0" eaLnBrk="0">
              <a:lnSpc>
                <a:spcPct val="116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6000"/>
              </a:lnSpc>
              <a:tabLst/>
            </a:pPr>
            <a:endParaRPr lang="Arial" altLang="Arial" sz="1000" dirty="0"/>
          </a:p>
          <a:p>
            <a:pPr marL="1054100" algn="l" rtl="0" eaLnBrk="0">
              <a:lnSpc>
                <a:spcPct val="112000"/>
              </a:lnSpc>
              <a:spcBef>
                <a:spcPts val="1086"/>
              </a:spcBef>
              <a:tabLst/>
            </a:pP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Space</a:t>
            </a:r>
            <a:r>
              <a:rPr sz="3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Logic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Ablackframe</a:t>
            </a:r>
            <a:r>
              <a:rPr sz="36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forced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space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!.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nothing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</a:t>
            </a:r>
            <a:r>
              <a:rPr sz="3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36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also</a:t>
            </a:r>
            <a:r>
              <a:rPr sz="36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converted</a:t>
            </a:r>
            <a:r>
              <a:rPr sz="3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36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 </a:t>
            </a: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'space.</a:t>
            </a:r>
            <a:endParaRPr lang="Arial" altLang="Arial" sz="3600" dirty="0"/>
          </a:p>
          <a:p>
            <a:pPr algn="l" rtl="0" eaLnBrk="0">
              <a:lnSpc>
                <a:spcPct val="14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44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0000"/>
              </a:lnSpc>
              <a:tabLst/>
            </a:pPr>
            <a:endParaRPr lang="Arial" altLang="Arial" sz="900" dirty="0"/>
          </a:p>
          <a:p>
            <a:pPr marL="12700" algn="l" rtl="0" eaLnBrk="0">
              <a:lnSpc>
                <a:spcPts val="4974"/>
              </a:lnSpc>
              <a:spcBef>
                <a:spcPts val="1"/>
              </a:spcBef>
              <a:tabLst/>
            </a:pPr>
            <a:r>
              <a:rPr sz="3600" kern="0" spc="70" dirty="0">
                <a:solidFill>
                  <a:srgbClr val="0044BA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</a:t>
            </a:r>
            <a:r>
              <a:rPr sz="3600" kern="0" spc="590" dirty="0">
                <a:solidFill>
                  <a:srgbClr val="0044BA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Assemble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Repetitiveletters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eg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,,"S-S-S-H-H")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arecollapsed</a:t>
            </a:r>
            <a:r>
              <a:rPr sz="36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into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36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("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6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")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thefinal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clean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  <a:r>
              <a:rPr sz="3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lang="Arial" altLang="Arial" sz="3600" dirty="0"/>
          </a:p>
        </p:txBody>
      </p:sp>
      <p:sp>
        <p:nvSpPr>
          <p:cNvPr id="148" name="textbox 148"/>
          <p:cNvSpPr/>
          <p:nvPr/>
        </p:nvSpPr>
        <p:spPr>
          <a:xfrm>
            <a:off x="1466921" y="1844809"/>
            <a:ext cx="23547705" cy="11290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9000" b="1" kern="0" spc="-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</a:t>
            </a:r>
            <a:r>
              <a:rPr sz="9000" b="1" kern="0" spc="-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0" b="1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0" b="1" kern="0" spc="-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Frames to Words:</a:t>
            </a:r>
            <a:r>
              <a:rPr sz="9000" b="1" kern="0" spc="-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9000" b="1" kern="0" spc="4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0" b="1" kern="0" spc="-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Decoding</a:t>
            </a:r>
            <a:r>
              <a:rPr sz="9000" b="1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0" b="1" kern="0" spc="-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Pipelin</a:t>
            </a:r>
            <a:r>
              <a:rPr sz="9000" b="1" kern="0" spc="-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lang="Arial" altLang="Arial" sz="9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"/>
          <p:cNvSpPr/>
          <p:nvPr/>
        </p:nvSpPr>
        <p:spPr>
          <a:xfrm>
            <a:off x="0" y="0"/>
            <a:ext cx="32512000" cy="18288000"/>
          </a:xfrm>
          <a:prstGeom prst="rect">
            <a:avLst/>
          </a:prstGeom>
          <a:solidFill>
            <a:srgbClr val="1E2A43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64162" y="5816680"/>
            <a:ext cx="14369977" cy="9207459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1517639" y="6293094"/>
            <a:ext cx="12330430" cy="4890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124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81000"/>
              </a:lnSpc>
              <a:tabLst/>
            </a:pPr>
            <a:r>
              <a:rPr sz="70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Target</a:t>
            </a:r>
            <a:r>
              <a:rPr sz="7000" b="1" kern="0" spc="4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Messa</a:t>
            </a:r>
            <a:r>
              <a:rPr sz="70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ge:</a:t>
            </a:r>
            <a:endParaRPr lang="Arial" altLang="Arial" sz="7000" dirty="0"/>
          </a:p>
          <a:p>
            <a:pPr algn="l" rtl="0" eaLnBrk="0">
              <a:lnSpc>
                <a:spcPct val="115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5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5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ct val="83000"/>
              </a:lnSpc>
              <a:spcBef>
                <a:spcPts val="875"/>
              </a:spcBef>
              <a:tabLst/>
            </a:pPr>
            <a:r>
              <a:rPr sz="29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</a:t>
            </a:r>
            <a:r>
              <a:rPr lang="en-US"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29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SUSHMA</a:t>
            </a:r>
            <a:r>
              <a:rPr sz="29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2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STUDYING</a:t>
            </a:r>
            <a:r>
              <a:rPr sz="29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9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UNIVERSITY</a:t>
            </a:r>
            <a:r>
              <a:rPr sz="2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COLORADO</a:t>
            </a:r>
            <a:r>
              <a:rPr sz="29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endParaRPr lang="Arial" altLang="Arial" sz="2900" dirty="0"/>
          </a:p>
          <a:p>
            <a:pPr algn="l" rtl="0" eaLnBrk="0">
              <a:lnSpc>
                <a:spcPct val="118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8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9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9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ct val="81000"/>
              </a:lnSpc>
              <a:spcBef>
                <a:spcPts val="2106"/>
              </a:spcBef>
              <a:tabLst/>
            </a:pPr>
            <a:r>
              <a:rPr sz="7000" b="1" kern="0" spc="-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Decoded</a:t>
            </a:r>
            <a:r>
              <a:rPr sz="7000" b="1" kern="0" spc="4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0" b="1" kern="0" spc="-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Message:</a:t>
            </a:r>
            <a:endParaRPr lang="Arial" altLang="Arial" sz="7000" dirty="0"/>
          </a:p>
          <a:p>
            <a:pPr algn="l" rtl="0" eaLnBrk="0">
              <a:lnSpc>
                <a:spcPct val="109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9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9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10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700" dirty="0"/>
          </a:p>
          <a:p>
            <a:pPr marL="12700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2900" kern="0" spc="6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HI</a:t>
            </a:r>
            <a:r>
              <a:rPr lang="en-US"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2900" kern="0" spc="6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SUSHMA</a:t>
            </a:r>
            <a:r>
              <a:rPr sz="2900" kern="0" spc="6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2900" kern="0" spc="13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STUDYING</a:t>
            </a:r>
            <a:r>
              <a:rPr sz="2900" kern="0" spc="20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900" kern="0" spc="17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UNIVERSITY</a:t>
            </a:r>
            <a:r>
              <a:rPr sz="2900" kern="0" spc="13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900" kern="0" spc="13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COLORADO</a:t>
            </a:r>
            <a:r>
              <a:rPr sz="2900" kern="0" spc="60" dirty="0">
                <a:solidFill>
                  <a:srgbClr val="00AC9A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endParaRPr lang="Arial" altLang="Arial" sz="2900" dirty="0"/>
          </a:p>
        </p:txBody>
      </p:sp>
      <p:sp>
        <p:nvSpPr>
          <p:cNvPr id="156" name="textbox 156"/>
          <p:cNvSpPr/>
          <p:nvPr/>
        </p:nvSpPr>
        <p:spPr>
          <a:xfrm>
            <a:off x="1517639" y="1830874"/>
            <a:ext cx="15744825" cy="11811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39747"/>
              </a:lnSpc>
              <a:tabLst/>
            </a:pPr>
            <a:endParaRPr lang="Arial" altLang="Arial" sz="100" dirty="0"/>
          </a:p>
          <a:p>
            <a:pPr algn="r" rtl="0" eaLnBrk="0">
              <a:lnSpc>
                <a:spcPct val="82000"/>
              </a:lnSpc>
              <a:tabLst/>
            </a:pPr>
            <a:r>
              <a:rPr sz="9300" b="1" kern="0" spc="-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Final</a:t>
            </a:r>
            <a:r>
              <a:rPr sz="9300" b="1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300" b="1" kern="0" spc="-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Demonstration:Suc</a:t>
            </a:r>
            <a:r>
              <a:rPr sz="9300" b="1" kern="0" spc="-4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cess!</a:t>
            </a:r>
            <a:endParaRPr lang="Arial" altLang="Arial" sz="9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605</Words>
  <Application>Microsoft Office PowerPoint</Application>
  <PresentationFormat>Custom</PresentationFormat>
  <Paragraphs>282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SimHei</vt:lpstr>
      <vt:lpstr>SimSun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>pdfbuilder</dc:subject>
  <dc:creator>Kingsoft-PDF</dc:creator>
  <cp:lastModifiedBy>Sushma Suresh</cp:lastModifiedBy>
  <cp:revision>2</cp:revision>
  <dcterms:created xsi:type="dcterms:W3CDTF">2025-11-14T22:20:28Z</dcterms:created>
  <dcterms:modified xsi:type="dcterms:W3CDTF">2025-11-14T22:42:39Z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2025-11-14T22:20:44Z</vt:filetime>
  </property>
  <property fmtid="{D5CDD505-2E9C-101B-9397-08002B2CF9AE}" pid="4" name="UsrData">
    <vt:lpwstr>603dcf9cd20547898daafbab5da43010</vt:lpwstr>
  </property>
</Properties>
</file>